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97" r:id="rId6"/>
    <p:sldId id="298" r:id="rId7"/>
    <p:sldId id="270" r:id="rId8"/>
    <p:sldId id="260" r:id="rId9"/>
    <p:sldId id="300" r:id="rId10"/>
    <p:sldId id="301" r:id="rId11"/>
    <p:sldId id="302" r:id="rId12"/>
    <p:sldId id="264" r:id="rId13"/>
    <p:sldId id="299" r:id="rId14"/>
    <p:sldId id="268" r:id="rId15"/>
    <p:sldId id="281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>
        <p:scale>
          <a:sx n="81" d="100"/>
          <a:sy n="81" d="100"/>
        </p:scale>
        <p:origin x="84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0877" y="1322386"/>
            <a:ext cx="10363200" cy="14700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368" y="304800"/>
            <a:ext cx="10668000" cy="487362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0800" y="274638"/>
            <a:ext cx="7721600" cy="4873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</a:fld>
            <a:endParaRPr lang="en-GB"/>
          </a:p>
        </p:txBody>
      </p:sp>
      <p:pic>
        <p:nvPicPr>
          <p:cNvPr id="2051" name="Picture 3" descr="C:\Users\AMMU\Desktop\Border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209" y="139874"/>
            <a:ext cx="9686793" cy="698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668000" cy="4873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143001"/>
            <a:ext cx="10668000" cy="49529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4994CE30-7D40-4BC0-BA0D-56C992D5B4BD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1BCD3F7E-62B3-4FB9-95CE-D1B0CC271B85}" type="slidenum">
              <a:rPr lang="en-GB" smtClean="0"/>
            </a:fld>
            <a:endParaRPr lang="en-GB"/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>
            <a:off x="812800" y="914400"/>
            <a:ext cx="10668000" cy="0"/>
          </a:xfrm>
          <a:prstGeom prst="line">
            <a:avLst/>
          </a:prstGeom>
          <a:noFill/>
          <a:ln w="57150" cmpd="thickThin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IN" sz="18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45"/>
          <a:stretch>
            <a:fillRect/>
          </a:stretch>
        </p:blipFill>
        <p:spPr bwMode="auto">
          <a:xfrm>
            <a:off x="0" y="5991366"/>
            <a:ext cx="12192000" cy="866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rgbClr val="FF0000"/>
          </a:solidFill>
          <a:latin typeface="Verdana" pitchFamily="34" charset="0"/>
          <a:ea typeface="Verdana" pitchFamily="34" charset="0"/>
          <a:cs typeface="Verdan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ieeexplore.ieee.org/document/8661960&#13;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0469" y="1069102"/>
            <a:ext cx="10363200" cy="1470025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SMART </a:t>
            </a:r>
            <a:r>
              <a:rPr lang="en-US" altLang="en-GB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AMBULANCE  DISPATCH SYSTEM WITH REAL TIME GPS INETGRATION</a:t>
            </a:r>
            <a:r>
              <a:rPr lang="en-GB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0469" y="2721956"/>
            <a:ext cx="3970594" cy="552184"/>
          </a:xfrm>
        </p:spPr>
        <p:txBody>
          <a:bodyPr/>
          <a:lstStyle/>
          <a:p>
            <a:pPr algn="l"/>
            <a:r>
              <a:rPr lang="en-GB" dirty="0"/>
              <a:t>Batch Number: 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CIT-G0</a:t>
            </a:r>
            <a:r>
              <a:rPr lang="en-US" alt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35</a:t>
            </a:r>
            <a:endParaRPr lang="en-GB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endParaRPr lang="en-GB" dirty="0"/>
          </a:p>
          <a:p>
            <a:pPr algn="l"/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30904" y="3274141"/>
          <a:ext cx="5418666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5000"/>
                <a:gridCol w="333366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Roll Number</a:t>
                      </a:r>
                      <a:endParaRPr lang="en-GB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Student Name</a:t>
                      </a:r>
                      <a:endParaRPr lang="en-GB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20211CIT01</a:t>
                      </a:r>
                      <a:r>
                        <a:rPr lang="en-US" altLang="en-IN" sz="1800" u="none" strike="noStrike" cap="none" dirty="0"/>
                        <a:t>25</a:t>
                      </a:r>
                      <a:endParaRPr lang="en-US" altLang="en-IN" sz="1800" u="none" strike="noStrike" cap="none" dirty="0"/>
                    </a:p>
                  </a:txBody>
                  <a:tcPr marL="91450" marR="91450"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SHAHUL HAMEED</a:t>
                      </a:r>
                      <a:endParaRPr lang="en-US" sz="1800" u="none" strike="noStrike" cap="none" dirty="0"/>
                    </a:p>
                  </a:txBody>
                  <a:tcPr marL="91450" marR="91450"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20211CIT01</a:t>
                      </a:r>
                      <a:r>
                        <a:rPr lang="en-US" altLang="en-IN" sz="1800" u="none" strike="noStrike" cap="none" dirty="0"/>
                        <a:t>31</a:t>
                      </a:r>
                      <a:endParaRPr lang="en-US" altLang="en-IN" sz="1800" u="none" strike="noStrike" cap="none" dirty="0"/>
                    </a:p>
                  </a:txBody>
                  <a:tcPr marL="91450" marR="91450"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FATIMATHUL SHAHANA</a:t>
                      </a:r>
                      <a:endParaRPr lang="en-US" sz="1800" u="none" strike="noStrike" cap="none" dirty="0"/>
                    </a:p>
                  </a:txBody>
                  <a:tcPr marL="91450" marR="91450"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20211CIT01</a:t>
                      </a:r>
                      <a:r>
                        <a:rPr lang="en-US" altLang="en-IN" sz="1800" u="none" strike="noStrike" cap="none" dirty="0"/>
                        <a:t>57</a:t>
                      </a:r>
                      <a:endParaRPr lang="en-US" altLang="en-IN" sz="1800" u="none" strike="noStrike" cap="none" dirty="0"/>
                    </a:p>
                  </a:txBody>
                  <a:tcPr marL="91450" marR="91450"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SIMRAN KUMARI</a:t>
                      </a:r>
                      <a:endParaRPr lang="en-US" sz="1800" u="none" strike="noStrike" cap="none" dirty="0"/>
                    </a:p>
                  </a:txBody>
                  <a:tcPr marL="91450" marR="91450"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5" name="Subtitle 2"/>
          <p:cNvSpPr txBox="1"/>
          <p:nvPr/>
        </p:nvSpPr>
        <p:spPr>
          <a:xfrm>
            <a:off x="6454795" y="3274140"/>
            <a:ext cx="5514292" cy="2433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80604020202020204" pitchFamily="34" charset="0"/>
              <a:buNone/>
              <a:defRPr sz="2000" b="1" kern="120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8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8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8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8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8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8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8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8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Under the Supervision of,</a:t>
            </a:r>
            <a:endParaRPr lang="en-GB" dirty="0"/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Mr.Tanveer Ahmed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Assistant Professor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endParaRPr lang="en-GB" dirty="0"/>
          </a:p>
        </p:txBody>
      </p:sp>
      <p:sp>
        <p:nvSpPr>
          <p:cNvPr id="6" name="Subtitle 2"/>
          <p:cNvSpPr txBox="1"/>
          <p:nvPr/>
        </p:nvSpPr>
        <p:spPr>
          <a:xfrm>
            <a:off x="3986772" y="334089"/>
            <a:ext cx="3970594" cy="552184"/>
          </a:xfrm>
          <a:prstGeom prst="rect">
            <a:avLst/>
          </a:prstGeom>
        </p:spPr>
        <p:txBody>
          <a:bodyPr vert="horz" lIns="91440" tIns="45720" rIns="91440" bIns="45720" rtlCol="0">
            <a:normAutofit fontScale="6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80604020202020204" pitchFamily="34" charset="0"/>
              <a:buNone/>
              <a:defRPr sz="2000" b="1" kern="120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8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8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8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8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8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8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8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8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PIP</a:t>
            </a:r>
            <a:r>
              <a:rPr lang="en-US" altLang="en-GB" dirty="0"/>
              <a:t>2001</a:t>
            </a:r>
            <a:r>
              <a:rPr lang="en-GB" dirty="0"/>
              <a:t>University Project</a:t>
            </a:r>
            <a:endParaRPr lang="en-GB" dirty="0"/>
          </a:p>
          <a:p>
            <a:r>
              <a:rPr lang="en-GB" dirty="0"/>
              <a:t>Review-</a:t>
            </a:r>
            <a:r>
              <a:rPr lang="en-US" altLang="en-GB" dirty="0"/>
              <a:t>4</a:t>
            </a:r>
            <a:endParaRPr lang="en-US" alt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emergency medical services,timely response is crucial for saving lives. Traditional ambulance dispatch systems often suffer from delays due to inefficient routing, lack of real-time data, and communication barriers.To address these challenges,there is a need for a reliable,scalable and user- friendly Smart Ambulance Dispatch System.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Smart Ambulance Dispatch System utilizes a dedicated Android app for ambulance drivers and a web platform for users to book ambulances. By integrating real-time GPS data and user-friendly interfaces, this system aims to streamline the ambulance booking process and enhance emergency response times.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dirty="0"/>
              <a:t>Research Gaps</a:t>
            </a:r>
            <a:endParaRPr lang="en-US" alt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pPr marL="0" indent="0">
              <a:buNone/>
            </a:pPr>
            <a:r>
              <a:rPr lang="en-GB" sz="22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Lack of Real-Time Ambulance Tracking</a:t>
            </a:r>
            <a:endParaRPr lang="en-GB" sz="22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systems lack the ability to track ambulances in real-time, leading to delays and miscommunication between users and drivers.</a:t>
            </a:r>
            <a:endParaRPr lang="en-GB" sz="2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22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2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sz="22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Inefficient Ambulance Allocation</a:t>
            </a:r>
            <a:endParaRPr lang="en-GB" sz="22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systems often allocate ambulances without considering proximity, traffic conditions, or availability, leading to inefficiencies and longer response times.</a:t>
            </a:r>
            <a:endParaRPr lang="en-US" altLang="en-GB" sz="2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GB" sz="2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2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No Traffic-Aware Route Optimization</a:t>
            </a:r>
            <a:endParaRPr lang="en-US" altLang="en-GB" sz="22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methods do not account for real-time traffic data when determining ambulance routes, resulting in delays.</a:t>
            </a:r>
            <a:endParaRPr lang="en-US" altLang="en-GB" sz="2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GB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Absence of User-Friendly Interfaces</a:t>
            </a:r>
            <a:endParaRPr lang="en-US" altLang="en-GB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systems lack intuitive user interfaces, making it difficult for users to book ambulances during emergencies.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Proposed Methodology</a:t>
            </a:r>
            <a:endParaRPr lang="en-US"/>
          </a:p>
        </p:txBody>
      </p:sp>
      <p:pic>
        <p:nvPicPr>
          <p:cNvPr id="4" name="Image1"/>
          <p:cNvPicPr>
            <a:picLocks noChangeAspect="1" noChangeArrowheads="1"/>
          </p:cNvPicPr>
          <p:nvPr>
            <p:ph idx="1"/>
          </p:nvPr>
        </p:nvPicPr>
        <p:blipFill>
          <a:blip r:embed="rId1"/>
          <a:srcRect r="19364"/>
          <a:stretch>
            <a:fillRect/>
          </a:stretch>
        </p:blipFill>
        <p:spPr>
          <a:xfrm>
            <a:off x="2098040" y="1285240"/>
            <a:ext cx="8096250" cy="4667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Proposed Methodolgy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proposed methodology involves the following steps: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/>
              <a:t>1. User Requests an Ambulance (Client Initiation)</a:t>
            </a:r>
            <a:endParaRPr lang="en-US"/>
          </a:p>
          <a:p>
            <a:pPr marL="0" indent="0">
              <a:buNone/>
            </a:pPr>
            <a:r>
              <a:rPr lang="en-US"/>
              <a:t>2.Request Processing in FastAPI Backend</a:t>
            </a:r>
            <a:endParaRPr lang="en-US"/>
          </a:p>
          <a:p>
            <a:pPr marL="0" indent="0">
              <a:buNone/>
            </a:pPr>
            <a:r>
              <a:rPr lang="en-US"/>
              <a:t>3. System Fetches Closest Ambulances</a:t>
            </a:r>
            <a:endParaRPr lang="en-US"/>
          </a:p>
          <a:p>
            <a:pPr marL="0" indent="0">
              <a:buNone/>
            </a:pPr>
            <a:r>
              <a:rPr lang="en-US"/>
              <a:t>4.Ambulance Booking Confirmation</a:t>
            </a:r>
            <a:endParaRPr lang="en-US"/>
          </a:p>
          <a:p>
            <a:pPr marL="0" indent="0">
              <a:buNone/>
            </a:pPr>
            <a:r>
              <a:rPr lang="en-US"/>
              <a:t>5.Confirmation Notification to User</a:t>
            </a:r>
            <a:endParaRPr lang="en-US"/>
          </a:p>
          <a:p>
            <a:pPr marL="0" indent="0">
              <a:buNone/>
            </a:pPr>
            <a:r>
              <a:rPr lang="en-US"/>
              <a:t>6.Route Optimization &amp; Live Navigation</a:t>
            </a:r>
            <a:endParaRPr lang="en-US"/>
          </a:p>
          <a:p>
            <a:pPr marL="0" indent="0">
              <a:buNone/>
            </a:pPr>
            <a:r>
              <a:rPr lang="en-US"/>
              <a:t>7.Live Ambulance Tracking for User</a:t>
            </a:r>
            <a:endParaRPr lang="en-US"/>
          </a:p>
          <a:p>
            <a:pPr marL="0" indent="0">
              <a:buNone/>
            </a:pPr>
            <a:r>
              <a:rPr lang="en-US"/>
              <a:t>8.Ambulance Arrives &amp; Patient Pickup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Proposed Method</a:t>
            </a:r>
            <a:r>
              <a:rPr lang="en-US" altLang="en-GB" dirty="0"/>
              <a:t>ology</a:t>
            </a:r>
            <a:endParaRPr lang="en-US" alt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the limitations of current approaches, this research proposes a smart ambulance dispatch system that integrates real-time GPS technology to optimize ambulance routing and enhance response times.The proposed method consists of the following steps: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Request &amp; Verification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Ambulance Allocation &amp; Dispatch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GPS Tracking &amp; Route Optimization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Ambulance Arrival &amp; Patient Handover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objectives of this research are: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Ambulance Response Time 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Minimize the time taken for an ambulance to reach a patient after a request.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Ambulance Allocation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quick and automated assignment of ambulances without manual intervention.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Emergency Route Planning &amp; Traffic Management 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 the fastest route for ambulances to reach patients and hospitals.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Real-Time Tracking of Ambulances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ambulance locations and status in real time to provide updates and manage resources effectively.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Results</a:t>
            </a:r>
            <a:endParaRPr lang="en-US"/>
          </a:p>
        </p:txBody>
      </p:sp>
      <p:pic>
        <p:nvPicPr>
          <p:cNvPr id="10" name="Picture 7"/>
          <p:cNvPicPr>
            <a:picLocks noChangeAspect="1" noChangeArrowheads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0850" y="1203325"/>
            <a:ext cx="5647690" cy="3723640"/>
          </a:xfrm>
          <a:prstGeom prst="rect">
            <a:avLst/>
          </a:prstGeom>
        </p:spPr>
      </p:pic>
      <p:pic>
        <p:nvPicPr>
          <p:cNvPr id="11" name="Image5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040" y="1047750"/>
            <a:ext cx="4967605" cy="387921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2567305" y="4734560"/>
            <a:ext cx="21189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</a:t>
            </a:r>
            <a:endParaRPr lang="en-US"/>
          </a:p>
          <a:p>
            <a:r>
              <a:rPr lang="en-US"/>
              <a:t>  Website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7509510" y="4498340"/>
            <a:ext cx="33102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endParaRPr lang="en-US"/>
          </a:p>
          <a:p>
            <a:pPr algn="l"/>
            <a:endParaRPr lang="en-US"/>
          </a:p>
          <a:p>
            <a:pPr algn="l"/>
            <a:r>
              <a:rPr lang="en-US"/>
              <a:t>Ambulance Tracking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Results</a:t>
            </a:r>
            <a:endParaRPr lang="en-US"/>
          </a:p>
        </p:txBody>
      </p:sp>
      <p:pic>
        <p:nvPicPr>
          <p:cNvPr id="7" name="Picture 8"/>
          <p:cNvPicPr>
            <a:picLocks noChangeAspect="1" noChangeArrowheads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72535" y="1068070"/>
            <a:ext cx="3285490" cy="436562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2348865" y="5521960"/>
            <a:ext cx="2138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/>
              <a:t>                          </a:t>
            </a:r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4487545" y="5521960"/>
            <a:ext cx="21774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>
                <a:sym typeface="+mn-ea"/>
              </a:rPr>
              <a:t>Driver Status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Results</a:t>
            </a:r>
            <a:endParaRPr lang="en-US"/>
          </a:p>
        </p:txBody>
      </p:sp>
      <p:pic>
        <p:nvPicPr>
          <p:cNvPr id="4" name="Picture 1365901079"/>
          <p:cNvPicPr>
            <a:picLocks noChangeAspect="1" noChangeArrowheads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47115" y="1600835"/>
            <a:ext cx="5332730" cy="324675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969895" y="5144770"/>
            <a:ext cx="22701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/>
              <a:t>Ambulances Record</a:t>
            </a:r>
            <a:endParaRPr lang="en-US"/>
          </a:p>
        </p:txBody>
      </p:sp>
      <p:pic>
        <p:nvPicPr>
          <p:cNvPr id="6" name="Image3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225" y="1600200"/>
            <a:ext cx="5160645" cy="324675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8423910" y="5144770"/>
            <a:ext cx="1575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/>
              <a:t>Users record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conclusion, this research aims to develop a Smart Ambulance Dispatch System that improves emergency medical services by integrating real-time GPS technology with user-friendly platforms for drivers and users. By utilizing real-time gps integration,the system effectively reduces response times and enhances operational efficiency.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sets a benchmark for future innovations in emergency response, emphasizing the importance of timely medical assistance.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Future Enhancements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</a:t>
            </a:r>
            <a:r>
              <a:rPr lang="en-US" b="1"/>
              <a:t>AI-Based Ambulance Allocation: </a:t>
            </a:r>
            <a:r>
              <a:rPr lang="en-US"/>
              <a:t>Dynamically dispatching an ambulance considering factors like traffic, proximity, and availability can increase efficiency with AI algorithms.</a:t>
            </a:r>
            <a:endParaRPr lang="en-US"/>
          </a:p>
          <a:p>
            <a:r>
              <a:rPr lang="en-US"/>
              <a:t></a:t>
            </a:r>
            <a:r>
              <a:rPr lang="en-US" b="1"/>
              <a:t>Hospital Systems Integration : </a:t>
            </a:r>
            <a:r>
              <a:rPr lang="en-US"/>
              <a:t>It connects ambulances with hospitals, giving them the status of the patient and the readiness status of the hospital to take on the patient.</a:t>
            </a:r>
            <a:endParaRPr lang="en-US"/>
          </a:p>
          <a:p>
            <a:r>
              <a:rPr lang="en-US"/>
              <a:t></a:t>
            </a:r>
            <a:r>
              <a:rPr lang="en-US" b="1"/>
              <a:t>Intelligent health monitoring: </a:t>
            </a:r>
            <a:r>
              <a:rPr lang="en-US"/>
              <a:t>equipping ambulances with equipment that will track patients and will transmit in real time vital signs to the hospital.</a:t>
            </a:r>
            <a:endParaRPr lang="en-US"/>
          </a:p>
          <a:p>
            <a:r>
              <a:rPr lang="en-US"/>
              <a:t></a:t>
            </a:r>
            <a:r>
              <a:rPr lang="en-US" b="1"/>
              <a:t>Multi-Language Support: </a:t>
            </a:r>
            <a:r>
              <a:rPr lang="en-US"/>
              <a:t>Extending language options to suit the diverse population and increase usability in rural and urban areas.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Barbeau, S.J., Labrador, M.A., Winters, P.L., Pérez, R., and Georggi, N.L.: ‗Location API 2.0 for J2ME–A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standard in location for Java-enabled mobile phones‘, Computer Communications, 31, (6), pp.1091-1103, 2008.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Cooke, R.: ‗The role and impact of transport on rural communities accessing the state health care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in south africa‘, rural health advocacy project, 2013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Phillips, A., Schroth, F., Palmer, G.M., Zielinski, S.G., Smith, A.P., and Cunningham. ‗Locationbased services‘, Google Patents, 2010.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Siruma, A., Hornby, D., Srinivas, S. An Assessment of Maternal Health Issues in Two Villages in the Eastern Cape Province of South Africa. Int. J. Environ. Res. Public Health 2014, 11, 9871-9884.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GB" dirty="0">
                <a:sym typeface="+mn-ea"/>
              </a:rPr>
            </a:br>
            <a:r>
              <a:rPr lang="en-GB" dirty="0">
                <a:sym typeface="+mn-ea"/>
              </a:rPr>
              <a:t>References</a:t>
            </a:r>
            <a:br>
              <a:rPr lang="en-GB" dirty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BhandariParchi, DalviKasturi and ChopadePriyanka,”Intelligent Accident –Detection And Ambulance -Rescue System,” in International Journal of Scientific and Technology Research, 6th June 2014.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SabyasachiPatra, KarishmaVelisetty and Prathamesh Patel, “Location Based Tracking,” in International Journal of Engineering Research and Development,12th Feb 2014.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Poonam  Gupta  ,Satyasheel  Pol  ,  Dharmanath  Rahatekar,  Avanti  Patil  “Smart  Ambulance  System”  International  Journal  of ComputerApplications (0975 – 8887)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hlinkClick r:id="rId1" action="ppaction://hlinkfile"/>
              </a:rPr>
              <a:t>https://ieeexplore.ieee.org/document/8661960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Bassey Isong and Nosipho Dladlu, Tsholofelo Magogodi, “Mobile-based Medical Emergency Ambulance Scheduling System”, Vol. 11, pp. 14-22, 2016.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4400" dirty="0"/>
          </a:p>
          <a:p>
            <a:pPr marL="0" indent="0" algn="ctr">
              <a:buNone/>
            </a:pPr>
            <a:endParaRPr lang="en-GB" sz="4400" dirty="0"/>
          </a:p>
          <a:p>
            <a:pPr marL="0" indent="0" algn="ctr">
              <a:buNone/>
            </a:pPr>
            <a:r>
              <a:rPr lang="en-GB" sz="6000" dirty="0"/>
              <a:t>Thank You</a:t>
            </a:r>
            <a:endParaRPr lang="en-GB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Bioinformatics</Template>
  <TotalTime>0</TotalTime>
  <Words>5727</Words>
  <Application>WPS Presentation</Application>
  <PresentationFormat>Widescreen</PresentationFormat>
  <Paragraphs>135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3" baseType="lpstr">
      <vt:lpstr>Arial</vt:lpstr>
      <vt:lpstr>SimSun</vt:lpstr>
      <vt:lpstr>Wingdings</vt:lpstr>
      <vt:lpstr>Verdana</vt:lpstr>
      <vt:lpstr>C059</vt:lpstr>
      <vt:lpstr>DejaVu Sans</vt:lpstr>
      <vt:lpstr>Cambria</vt:lpstr>
      <vt:lpstr>FreeSerif</vt:lpstr>
      <vt:lpstr>Arial</vt:lpstr>
      <vt:lpstr>Verdana</vt:lpstr>
      <vt:lpstr>Times New Roman</vt:lpstr>
      <vt:lpstr>Bookman Old Style</vt:lpstr>
      <vt:lpstr>Microsoft YaHei</vt:lpstr>
      <vt:lpstr>Droid Sans Fallback</vt:lpstr>
      <vt:lpstr>Arial Unicode MS</vt:lpstr>
      <vt:lpstr>Calibri</vt:lpstr>
      <vt:lpstr>OpenSymbol</vt:lpstr>
      <vt:lpstr>Bioinformatics</vt:lpstr>
      <vt:lpstr>SMART AMBULANCE  DISPATCH SYSTEM WITH REAL TIME GPS INETGRATION </vt:lpstr>
      <vt:lpstr>Introduction</vt:lpstr>
      <vt:lpstr>Literature Review</vt:lpstr>
      <vt:lpstr>PowerPoint 演示文稿</vt:lpstr>
      <vt:lpstr>PowerPoint 演示文稿</vt:lpstr>
      <vt:lpstr>Proposed Method</vt:lpstr>
      <vt:lpstr>Objectives</vt:lpstr>
      <vt:lpstr>PowerPoint 演示文稿</vt:lpstr>
      <vt:lpstr>PowerPoint 演示文稿</vt:lpstr>
      <vt:lpstr>PowerPoint 演示文稿</vt:lpstr>
      <vt:lpstr>Conclusion</vt:lpstr>
      <vt:lpstr>PowerPoint 演示文稿</vt:lpstr>
      <vt:lpstr>References</vt:lpstr>
      <vt:lpstr> References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Sanjeev P Kaulgud-Asst. Prof-CSE</dc:creator>
  <cp:lastModifiedBy>shahul</cp:lastModifiedBy>
  <cp:revision>26</cp:revision>
  <dcterms:created xsi:type="dcterms:W3CDTF">2025-01-19T11:35:25Z</dcterms:created>
  <dcterms:modified xsi:type="dcterms:W3CDTF">2025-01-19T11:35:25Z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